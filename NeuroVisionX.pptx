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grandir Wide Bold" charset="1" panose="00000805000000000000"/>
      <p:regular r:id="rId18"/>
    </p:embeddedFont>
    <p:embeddedFont>
      <p:font typeface="Nunito" charset="1" panose="00000000000000000000"/>
      <p:regular r:id="rId19"/>
    </p:embeddedFont>
    <p:embeddedFont>
      <p:font typeface="Nunito Bold Italics" charset="1" panose="00000000000000000000"/>
      <p:regular r:id="rId20"/>
    </p:embeddedFont>
    <p:embeddedFont>
      <p:font typeface="Nunito Bol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2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hatgpt.com/g/g-p-6a3ab4ca31308191a3ea79db192d04a7-neural-networks-proj/c/6a3ab4e3-a818-83ee-a897-14b564f8d4e4#:~:text=Apply%20Grad%2DCAM%20to%20highlight%20important%20image%20regions%20influencing%20brain%20tumor%20and%20pneumonia%20predictions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02046" y="3006879"/>
            <a:ext cx="12670509" cy="1792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77"/>
              </a:lnSpc>
            </a:pPr>
            <a:r>
              <a:rPr lang="en-US" sz="10243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NEUROVISIONX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7358" y="4816259"/>
            <a:ext cx="11650547" cy="1826223"/>
            <a:chOff x="0" y="0"/>
            <a:chExt cx="3068457" cy="480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68457" cy="480980"/>
            </a:xfrm>
            <a:custGeom>
              <a:avLst/>
              <a:gdLst/>
              <a:ahLst/>
              <a:cxnLst/>
              <a:rect r="r" b="b" t="t" l="l"/>
              <a:pathLst>
                <a:path h="480980" w="3068457">
                  <a:moveTo>
                    <a:pt x="66451" y="0"/>
                  </a:moveTo>
                  <a:lnTo>
                    <a:pt x="3002006" y="0"/>
                  </a:lnTo>
                  <a:cubicBezTo>
                    <a:pt x="3019630" y="0"/>
                    <a:pt x="3036532" y="7001"/>
                    <a:pt x="3048994" y="19463"/>
                  </a:cubicBezTo>
                  <a:cubicBezTo>
                    <a:pt x="3061456" y="31925"/>
                    <a:pt x="3068457" y="48827"/>
                    <a:pt x="3068457" y="66451"/>
                  </a:cubicBezTo>
                  <a:lnTo>
                    <a:pt x="3068457" y="414529"/>
                  </a:lnTo>
                  <a:cubicBezTo>
                    <a:pt x="3068457" y="432153"/>
                    <a:pt x="3061456" y="449055"/>
                    <a:pt x="3048994" y="461517"/>
                  </a:cubicBezTo>
                  <a:cubicBezTo>
                    <a:pt x="3036532" y="473979"/>
                    <a:pt x="3019630" y="480980"/>
                    <a:pt x="3002006" y="480980"/>
                  </a:cubicBezTo>
                  <a:lnTo>
                    <a:pt x="66451" y="480980"/>
                  </a:lnTo>
                  <a:cubicBezTo>
                    <a:pt x="29751" y="480980"/>
                    <a:pt x="0" y="451229"/>
                    <a:pt x="0" y="414529"/>
                  </a:cubicBezTo>
                  <a:lnTo>
                    <a:pt x="0" y="66451"/>
                  </a:lnTo>
                  <a:cubicBezTo>
                    <a:pt x="0" y="29751"/>
                    <a:pt x="29751" y="0"/>
                    <a:pt x="66451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068457" cy="576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02046" y="5130549"/>
            <a:ext cx="11153355" cy="1130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22"/>
              </a:lnSpc>
            </a:pPr>
            <a:r>
              <a:rPr lang="en-US" sz="323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 Deep Neural Framework for Multi-Disease Prediction and Explainable Clinical-Support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7358" y="7953822"/>
            <a:ext cx="9020785" cy="170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Presented by </a:t>
            </a:r>
          </a:p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Santhosshi M - CH.SC.U4CSE23242</a:t>
            </a:r>
          </a:p>
          <a:p>
            <a:pPr algn="l">
              <a:lnSpc>
                <a:spcPts val="4540"/>
              </a:lnSpc>
            </a:pPr>
            <a:r>
              <a:rPr lang="en-US" sz="324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Sri Khyathi N - CH.SC.U4CSE23252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38019" y="1372383"/>
            <a:ext cx="13386679" cy="250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PROBLEM STATEMENT</a:t>
            </a:r>
          </a:p>
          <a:p>
            <a:pPr algn="l">
              <a:lnSpc>
                <a:spcPts val="897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887794"/>
            <a:ext cx="14945177" cy="6610572"/>
            <a:chOff x="0" y="0"/>
            <a:chExt cx="3936178" cy="1741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936178" cy="1741056"/>
            </a:xfrm>
            <a:custGeom>
              <a:avLst/>
              <a:gdLst/>
              <a:ahLst/>
              <a:cxnLst/>
              <a:rect r="r" b="b" t="t" l="l"/>
              <a:pathLst>
                <a:path h="1741056" w="3936178">
                  <a:moveTo>
                    <a:pt x="51802" y="0"/>
                  </a:moveTo>
                  <a:lnTo>
                    <a:pt x="3884376" y="0"/>
                  </a:lnTo>
                  <a:cubicBezTo>
                    <a:pt x="3898115" y="0"/>
                    <a:pt x="3911291" y="5458"/>
                    <a:pt x="3921006" y="15172"/>
                  </a:cubicBezTo>
                  <a:cubicBezTo>
                    <a:pt x="3930721" y="24887"/>
                    <a:pt x="3936178" y="38063"/>
                    <a:pt x="3936178" y="51802"/>
                  </a:cubicBezTo>
                  <a:lnTo>
                    <a:pt x="3936178" y="1689254"/>
                  </a:lnTo>
                  <a:cubicBezTo>
                    <a:pt x="3936178" y="1702993"/>
                    <a:pt x="3930721" y="1716169"/>
                    <a:pt x="3921006" y="1725883"/>
                  </a:cubicBezTo>
                  <a:cubicBezTo>
                    <a:pt x="3911291" y="1735598"/>
                    <a:pt x="3898115" y="1741056"/>
                    <a:pt x="3884376" y="1741056"/>
                  </a:cubicBezTo>
                  <a:lnTo>
                    <a:pt x="51802" y="1741056"/>
                  </a:lnTo>
                  <a:cubicBezTo>
                    <a:pt x="38063" y="1741056"/>
                    <a:pt x="24887" y="1735598"/>
                    <a:pt x="15172" y="1725883"/>
                  </a:cubicBezTo>
                  <a:cubicBezTo>
                    <a:pt x="5458" y="1716169"/>
                    <a:pt x="0" y="1702993"/>
                    <a:pt x="0" y="1689254"/>
                  </a:cubicBezTo>
                  <a:lnTo>
                    <a:pt x="0" y="51802"/>
                  </a:lnTo>
                  <a:cubicBezTo>
                    <a:pt x="0" y="38063"/>
                    <a:pt x="5458" y="24887"/>
                    <a:pt x="15172" y="15172"/>
                  </a:cubicBezTo>
                  <a:cubicBezTo>
                    <a:pt x="24887" y="5458"/>
                    <a:pt x="38063" y="0"/>
                    <a:pt x="51802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3936178" cy="18363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51082" y="3240336"/>
            <a:ext cx="14319051" cy="6258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Medical diagnosis often requires analyzing different types of patient data, including symptoms, clinical parameters, and medical images.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Traditional diagnostic workflows may require separate tools for different diseases, making assessment less centralized</a:t>
            </a:r>
            <a:r>
              <a:rPr lang="en-US" sz="276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Manual interpretation of MRI scans and chest X-rays can be time-consuming and requires medical expertise.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Existing prediction systems may lack visual explanations to help users understand model predictions.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Managing patient diagnostic records and generating reports across multiple prediction modules can be challenging.</a:t>
            </a:r>
          </a:p>
          <a:p>
            <a:pPr algn="just" marL="597166" indent="-298583" lvl="1">
              <a:lnSpc>
                <a:spcPts val="3872"/>
              </a:lnSpc>
              <a:buFont typeface="Arial"/>
              <a:buChar char="•"/>
            </a:pPr>
            <a:r>
              <a:rPr lang="en-US" sz="276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There is a need for an integrated AI-based platform that supports disease prediction, explainable results, patient history management, and automated report generation.</a:t>
            </a:r>
          </a:p>
          <a:p>
            <a:pPr algn="just">
              <a:lnSpc>
                <a:spcPts val="3872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80704" y="654607"/>
            <a:ext cx="14910872" cy="2507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MOTIVATION AND</a:t>
            </a:r>
          </a:p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 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3350" y="4197059"/>
            <a:ext cx="6746276" cy="602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leverage deep learning for assisting in the early identification of potential diseases.</a:t>
            </a:r>
          </a:p>
          <a:p>
            <a:pPr algn="just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combine symptom analysis, clinical data prediction, and medical image classification in one platform.</a:t>
            </a:r>
          </a:p>
          <a:p>
            <a:pPr algn="just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reduce manual effort in analyzing medical data and support faster preliminary assessments.</a:t>
            </a:r>
          </a:p>
          <a:p>
            <a:pPr algn="just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improve interpretability using Grad-CAM visualizations for medical image predictions.</a:t>
            </a:r>
          </a:p>
          <a:p>
            <a:pPr algn="just" marL="453390" indent="-226695" lvl="1">
              <a:lnSpc>
                <a:spcPts val="3696"/>
              </a:lnSpc>
              <a:buFont typeface="Arial"/>
              <a:buChar char="•"/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simplify patient record management and automated medical report generation.</a:t>
            </a:r>
          </a:p>
          <a:p>
            <a:pPr algn="just">
              <a:lnSpc>
                <a:spcPts val="3696"/>
              </a:lnSpc>
            </a:pPr>
          </a:p>
          <a:p>
            <a:pPr algn="just">
              <a:lnSpc>
                <a:spcPts val="369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03350" y="3421868"/>
            <a:ext cx="756100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b="true" sz="3230" i="true" u="sng">
                <a:solidFill>
                  <a:srgbClr val="30387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Motivation: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50618" y="3302808"/>
            <a:ext cx="756100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b="true" sz="3230" i="true" u="sng">
                <a:solidFill>
                  <a:srgbClr val="30387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Scope of Project: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41297" y="3763674"/>
            <a:ext cx="8179644" cy="61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7"/>
              </a:lnSpc>
              <a:spcBef>
                <a:spcPct val="0"/>
              </a:spcBef>
            </a:pPr>
          </a:p>
          <a:p>
            <a:pPr algn="l" marL="415088" indent="-207544" lvl="1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Symptom-Based Prediction: Predict possible diseases from reported symptoms across 41 disease classes.</a:t>
            </a:r>
          </a:p>
          <a:p>
            <a:pPr algn="l" marL="415088" indent="-207544" lvl="1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Clinical Data Analysis: Predict heart disease and diabetes using structured health parameters.</a:t>
            </a:r>
          </a:p>
          <a:p>
            <a:pPr algn="l" marL="415088" indent="-207544" lvl="1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Medical Image Analysis: Classify brain MRI scans and chest X-rays for brain tumor and pneumonia detection.</a:t>
            </a:r>
          </a:p>
          <a:p>
            <a:pPr algn="l" marL="415088" indent="-207544" lvl="1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Explainable AI: Generate Grad-CAM visualizations to highlight image regions influencing predictions.</a:t>
            </a:r>
          </a:p>
          <a:p>
            <a:pPr algn="l" marL="415088" indent="-207544" lvl="1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Patient Management: Store and retrieve diagnostic history using an SQLite database.</a:t>
            </a:r>
          </a:p>
          <a:p>
            <a:pPr algn="l" marL="415088" indent="-207544" lvl="1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Automated Reporting: Generate downloadable PDF reports containing prediction details.</a:t>
            </a:r>
          </a:p>
          <a:p>
            <a:pPr algn="l" marL="415088" indent="-207544" lvl="1">
              <a:lnSpc>
                <a:spcPts val="3287"/>
              </a:lnSpc>
              <a:spcBef>
                <a:spcPct val="0"/>
              </a:spcBef>
              <a:buFont typeface="Arial"/>
              <a:buChar char="•"/>
            </a:pPr>
            <a:r>
              <a:rPr lang="en-US" sz="1922" spc="10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Unified Interface: Provide access to the different modules through a Streamlit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8038" y="781840"/>
            <a:ext cx="8115300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OBJECTIVES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0023" y="2583069"/>
            <a:ext cx="14626235" cy="715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27" indent="-291463" lvl="1">
              <a:lnSpc>
                <a:spcPts val="4751"/>
              </a:lnSpc>
              <a:buFont typeface="Arial"/>
              <a:buChar char="•"/>
            </a:pPr>
            <a:r>
              <a:rPr lang="en-US" sz="2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develop an integrated AI-based platform for preliminary disease prediction.</a:t>
            </a:r>
          </a:p>
          <a:p>
            <a:pPr algn="just" marL="582927" indent="-291463" lvl="1">
              <a:lnSpc>
                <a:spcPts val="4751"/>
              </a:lnSpc>
              <a:buFont typeface="Arial"/>
              <a:buChar char="•"/>
            </a:pPr>
            <a:r>
              <a:rPr lang="en-US" sz="2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build a symptom-based disease prediction model covering 41 disease classes.</a:t>
            </a:r>
          </a:p>
          <a:p>
            <a:pPr algn="just" marL="582927" indent="-291463" lvl="1">
              <a:lnSpc>
                <a:spcPts val="4751"/>
              </a:lnSpc>
              <a:buFont typeface="Arial"/>
              <a:buChar char="•"/>
            </a:pPr>
            <a:r>
              <a:rPr lang="en-US" sz="2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develop neural network models for heart disease and diabetes prediction using clinical data.</a:t>
            </a:r>
          </a:p>
          <a:p>
            <a:pPr algn="just" marL="582927" indent="-291463" lvl="1">
              <a:lnSpc>
                <a:spcPts val="4751"/>
              </a:lnSpc>
              <a:buFont typeface="Arial"/>
              <a:buChar char="•"/>
            </a:pPr>
            <a:r>
              <a:rPr lang="en-US" sz="2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implement deep learning models for brain tumor classification from MRI scans and pneumonia detection from chest X-rays.</a:t>
            </a:r>
          </a:p>
          <a:p>
            <a:pPr algn="just" marL="582927" indent="-291463" lvl="1">
              <a:lnSpc>
                <a:spcPts val="4751"/>
              </a:lnSpc>
              <a:buFont typeface="Arial"/>
              <a:buChar char="•"/>
            </a:pPr>
            <a:r>
              <a:rPr lang="en-US" sz="2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improve model interpretability using Grad-CAM visualizations.</a:t>
            </a:r>
          </a:p>
          <a:p>
            <a:pPr algn="just" marL="582927" indent="-291463" lvl="1">
              <a:lnSpc>
                <a:spcPts val="4751"/>
              </a:lnSpc>
              <a:buFont typeface="Arial"/>
              <a:buChar char="•"/>
            </a:pPr>
            <a:r>
              <a:rPr lang="en-US" sz="2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maintain patient diagnostic history using an SQLite database.</a:t>
            </a:r>
          </a:p>
          <a:p>
            <a:pPr algn="just" marL="582927" indent="-291463" lvl="1">
              <a:lnSpc>
                <a:spcPts val="4751"/>
              </a:lnSpc>
              <a:buFont typeface="Arial"/>
              <a:buChar char="•"/>
            </a:pPr>
            <a:r>
              <a:rPr lang="en-US" sz="2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automate medical report generation in PDF format.</a:t>
            </a:r>
          </a:p>
          <a:p>
            <a:pPr algn="just" marL="582927" indent="-291463" lvl="1">
              <a:lnSpc>
                <a:spcPts val="4751"/>
              </a:lnSpc>
              <a:buFont typeface="Arial"/>
              <a:buChar char="•"/>
            </a:pPr>
            <a:r>
              <a:rPr lang="en-US" sz="2699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To provide a user-friendly, multi-page interface using Streamlit.</a:t>
            </a:r>
          </a:p>
          <a:p>
            <a:pPr algn="just">
              <a:lnSpc>
                <a:spcPts val="4751"/>
              </a:lnSpc>
            </a:pPr>
          </a:p>
          <a:p>
            <a:pPr algn="just">
              <a:lnSpc>
                <a:spcPts val="4751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391397" y="1729556"/>
          <a:ext cx="5197642" cy="8229600"/>
        </p:xfrm>
        <a:graphic>
          <a:graphicData uri="http://schemas.openxmlformats.org/presentationml/2006/ole">
            <p:oleObj imgW="68326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-504976" y="260518"/>
            <a:ext cx="14472976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7872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LITERATURE SURVEY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aphicFrame>
        <p:nvGraphicFramePr>
          <p:cNvPr name="Object 5" id="5"/>
          <p:cNvGraphicFramePr/>
          <p:nvPr/>
        </p:nvGraphicFramePr>
        <p:xfrm>
          <a:off x="235386" y="394792"/>
          <a:ext cx="5197642" cy="8229600"/>
        </p:xfrm>
        <a:graphic>
          <a:graphicData uri="http://schemas.openxmlformats.org/presentationml/2006/ole">
            <p:oleObj imgW="6832600" imgH="9867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82008" y="721185"/>
            <a:ext cx="9809969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7872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RESEARCH GAP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8681" y="2346113"/>
            <a:ext cx="15329931" cy="7153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9850" indent="-249925" lvl="1">
              <a:lnSpc>
                <a:spcPts val="4074"/>
              </a:lnSpc>
              <a:buFont typeface="Arial"/>
              <a:buChar char="•"/>
            </a:pPr>
            <a:r>
              <a:rPr lang="en-US" sz="231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Most existing studies focus on individual diseases, such as heart disease, diabetes, pneumonia, brain tumors, or tuberculosis, rather than providing multiple prediction modules in one platform.</a:t>
            </a:r>
          </a:p>
          <a:p>
            <a:pPr algn="just" marL="499850" indent="-249925" lvl="1">
              <a:lnSpc>
                <a:spcPts val="4074"/>
              </a:lnSpc>
              <a:buFont typeface="Arial"/>
              <a:buChar char="•"/>
            </a:pPr>
            <a:r>
              <a:rPr lang="en-US" sz="231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Many approaches use either structured clinical data, patient-reported symptoms, or medical images, with limited integration of these different data types into a unified diagnostic workflow.</a:t>
            </a:r>
          </a:p>
          <a:p>
            <a:pPr algn="just" marL="499850" indent="-249925" lvl="1">
              <a:lnSpc>
                <a:spcPts val="4074"/>
              </a:lnSpc>
              <a:buFont typeface="Arial"/>
              <a:buChar char="•"/>
            </a:pPr>
            <a:r>
              <a:rPr lang="en-US" sz="231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Several models emphasize prediction accuracy but provide limited interpretability, making it difficult for users to understand the factors influencing model outputs.</a:t>
            </a:r>
          </a:p>
          <a:p>
            <a:pPr algn="just" marL="499850" indent="-249925" lvl="1">
              <a:lnSpc>
                <a:spcPts val="4074"/>
              </a:lnSpc>
              <a:buFont typeface="Arial"/>
              <a:buChar char="•"/>
            </a:pPr>
            <a:r>
              <a:rPr lang="en-US" sz="231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Patient diagnostic history and report generation are often handled separately from disease prediction, limiting centralized record management.</a:t>
            </a:r>
          </a:p>
          <a:p>
            <a:pPr algn="just" marL="499850" indent="-249925" lvl="1">
              <a:lnSpc>
                <a:spcPts val="4074"/>
              </a:lnSpc>
              <a:buFont typeface="Arial"/>
              <a:buChar char="•"/>
            </a:pPr>
            <a:r>
              <a:rPr lang="en-US" sz="231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Model performance may vary across datasets and patient populations, highlighting the need for careful evaluation and external validation.</a:t>
            </a:r>
          </a:p>
          <a:p>
            <a:pPr algn="just" marL="499850" indent="-249925" lvl="1">
              <a:lnSpc>
                <a:spcPts val="4074"/>
              </a:lnSpc>
              <a:buFont typeface="Arial"/>
              <a:buChar char="•"/>
            </a:pPr>
            <a:r>
              <a:rPr lang="en-US" sz="231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These gaps motivate the development of NeuroVisionX, a modular AI-based platform integrating symptom-based prediction, clinical-data analysis, medical image classification, Grad-CAM visualization, patient history, and automated PDF reporting.</a:t>
            </a:r>
          </a:p>
          <a:p>
            <a:pPr algn="just">
              <a:lnSpc>
                <a:spcPts val="4074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7970455" y="3630619"/>
            <a:ext cx="0" cy="4941945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848095" y="3508259"/>
            <a:ext cx="244720" cy="2447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47820" y="4888269"/>
            <a:ext cx="244720" cy="24472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48095" y="6268279"/>
            <a:ext cx="244720" cy="24472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47820" y="7648289"/>
            <a:ext cx="244720" cy="24472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733954" y="1109621"/>
            <a:ext cx="9615185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7872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METHODOLOGY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1713" y="3935710"/>
            <a:ext cx="7475155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Collect symptom records, clinical datasets, brain MRI images, and chest X-ray images.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16733" y="3877036"/>
            <a:ext cx="8285982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  <a:hlinkClick r:id="rId2" tooltip="https://chatgpt.com/g/g-p-6a3ab4ca31308191a3ea79db192d04a7-neural-networks-proj/c/6a3ab4e3-a818-83ee-a897-14b564f8d4e4#:~:text=Apply%20Grad%2DCAM%20to%20highlight%20important%20image%20regions%20influencing%20brain%20tumor%20and%20pneumonia%20predictions"/>
              </a:rPr>
              <a:t>Apply Grad-CAM to highlight important image regions influencing brain tumor and pneumonia predictions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4188" y="5260048"/>
            <a:ext cx="7653632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Clean data, encode categorical features, normalize numerical values, and resize medical images.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65206" y="5255349"/>
            <a:ext cx="7228572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Integrate trained models into a common backend to process inputs and return predictions.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3427" y="6654409"/>
            <a:ext cx="7475155" cy="67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16"/>
              </a:lnSpc>
            </a:pPr>
            <a:r>
              <a:rPr lang="en-US" sz="16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Develop separate neural network models for symptom-based disease prediction, heart disease, diabetes, brain tumor classification, and pneumonia detection.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65206" y="6583820"/>
            <a:ext cx="7956625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Use SQLite to manage diagnostic records and generate downloadable PDF reports.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3427" y="8150416"/>
            <a:ext cx="7191729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Train each model independently and evaluate performance using accuracy, precision, recall, and F1-score.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65755" y="8015369"/>
            <a:ext cx="7817948" cy="135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Develop a multi-page Streamlit interface and test prediction modules, database operations, explainability, and report generation.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62661" y="3319224"/>
            <a:ext cx="5912494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Dataset Collection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65206" y="3319224"/>
            <a:ext cx="722857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Explainable AI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2661" y="4699234"/>
            <a:ext cx="5912494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 Data Preprocessing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65206" y="4699234"/>
            <a:ext cx="722857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Backend Integration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62661" y="6079244"/>
            <a:ext cx="5912494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Model Development: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65206" y="6079244"/>
            <a:ext cx="722857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Patient History and Reporting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66669" y="7571730"/>
            <a:ext cx="5912494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Model Training and Evaluation: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65206" y="7459254"/>
            <a:ext cx="7228572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Frontend and System Testing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67489" y="1698397"/>
            <a:ext cx="13380567" cy="8224576"/>
          </a:xfrm>
          <a:custGeom>
            <a:avLst/>
            <a:gdLst/>
            <a:ahLst/>
            <a:cxnLst/>
            <a:rect r="r" b="b" t="t" l="l"/>
            <a:pathLst>
              <a:path h="8224576" w="13380567">
                <a:moveTo>
                  <a:pt x="0" y="0"/>
                </a:moveTo>
                <a:lnTo>
                  <a:pt x="13380567" y="0"/>
                </a:lnTo>
                <a:lnTo>
                  <a:pt x="13380567" y="8224576"/>
                </a:lnTo>
                <a:lnTo>
                  <a:pt x="0" y="8224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30" r="0" b="-423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3757" y="260518"/>
            <a:ext cx="14212957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7872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ARCHITECTURE   FLOW 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65940" y="1284959"/>
            <a:ext cx="9384626" cy="249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TECHNIQUES USED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1043" y="5020223"/>
            <a:ext cx="444658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Heart disease and diabetes prediction using clinical data.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36316"/>
            <a:ext cx="444658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Resizing and normalization of medical images.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3978" y="5115395"/>
            <a:ext cx="444658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Disease prediction across 41 disease classes.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3978" y="7336316"/>
            <a:ext cx="3867444" cy="1822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Grad-CAM for image visualization and SHAP for feature importance in supported modules.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6283" y="5020223"/>
            <a:ext cx="3867444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Brain tumor and pneumonia detection using EfficientNet-B0.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86283" y="7803041"/>
            <a:ext cx="4446588" cy="888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6"/>
              </a:lnSpc>
            </a:pPr>
            <a:r>
              <a:rPr lang="en-US" sz="2100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Performance metrics, SQLite patient history, and automated PDF reports.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1043" y="4329061"/>
            <a:ext cx="4446588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ANN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645154"/>
            <a:ext cx="4446588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Image Preprocessing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08663" y="3904613"/>
            <a:ext cx="4446588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Symptom-Based Classification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03978" y="6645154"/>
            <a:ext cx="4446588" cy="55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Explainable 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88626" y="3716672"/>
            <a:ext cx="4446588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CNN &amp; Transfer Learning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88626" y="6645154"/>
            <a:ext cx="4845284" cy="112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2"/>
              </a:lnSpc>
            </a:pPr>
            <a:r>
              <a:rPr lang="en-US" sz="3230" b="true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Model Evaluation &amp; Reporting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49853" y="1940456"/>
            <a:ext cx="12876286" cy="8008194"/>
          </a:xfrm>
          <a:custGeom>
            <a:avLst/>
            <a:gdLst/>
            <a:ahLst/>
            <a:cxnLst/>
            <a:rect r="r" b="b" t="t" l="l"/>
            <a:pathLst>
              <a:path h="8008194" w="12876286">
                <a:moveTo>
                  <a:pt x="0" y="0"/>
                </a:moveTo>
                <a:lnTo>
                  <a:pt x="12876286" y="0"/>
                </a:lnTo>
                <a:lnTo>
                  <a:pt x="12876286" y="8008194"/>
                </a:lnTo>
                <a:lnTo>
                  <a:pt x="0" y="8008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192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938341" y="461166"/>
            <a:ext cx="15721067" cy="1364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4"/>
              </a:lnSpc>
            </a:pPr>
            <a:r>
              <a:rPr lang="en-US" b="true" sz="7872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RESULTS &amp; ANALYSIS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534337"/>
            <a:ext cx="10208996" cy="181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1"/>
              </a:lnSpc>
            </a:pPr>
            <a:r>
              <a:rPr lang="en-US" sz="10343" b="true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DAHYL1esv0c</dc:identifier>
  <dcterms:modified xsi:type="dcterms:W3CDTF">2011-08-01T06:04:30Z</dcterms:modified>
  <cp:revision>1</cp:revision>
  <dc:title>NeuroVisionX</dc:title>
</cp:coreProperties>
</file>